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9747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9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8710" y="1135410"/>
            <a:ext cx="6946431" cy="100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920"/>
              </a:lnSpc>
              <a:buNone/>
            </a:pPr>
            <a:r>
              <a:rPr lang="en-US" sz="72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Safer Streets NI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2074664" y="2407890"/>
            <a:ext cx="499437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spcBef>
                <a:spcPts val="900"/>
              </a:spcBef>
              <a:buNone/>
            </a:pPr>
            <a:r>
              <a:rPr lang="en-US" sz="225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 Traffic Collision Analysis 2017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098710" y="3284190"/>
            <a:ext cx="694643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Barchart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8710" y="3741390"/>
            <a:ext cx="694643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35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Dylan Thomas • James Troy • Darragh Counihan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41732" y="4724400"/>
            <a:ext cx="886053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for DfI NI &amp; PSNI Road Policing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Stakeholders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400175"/>
            <a:ext cx="85496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00" y="1781175"/>
            <a:ext cx="854964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2017, Northern Ireland experienced over 6,000 road traffic collisions resulting in casualties. Understanding collision patterns is critical for targeted interventions to reduce fatalities and serious injuries.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81000" y="2447925"/>
            <a:ext cx="85496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Stakeholders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81000" y="2905125"/>
            <a:ext cx="4114800" cy="800100"/>
          </a:xfrm>
          <a:prstGeom prst="roundRect">
            <a:avLst>
              <a:gd name="adj" fmla="val 7619"/>
            </a:avLst>
          </a:prstGeom>
          <a:solidFill>
            <a:srgbClr val="1791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33400" y="3057525"/>
            <a:ext cx="3886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DfI NI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33400" y="3362325"/>
            <a:ext cx="3886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planning &amp; road safety policy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648200" y="2905125"/>
            <a:ext cx="4114800" cy="800100"/>
          </a:xfrm>
          <a:prstGeom prst="roundRect">
            <a:avLst>
              <a:gd name="adj" fmla="val 7619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00600" y="3057525"/>
            <a:ext cx="3886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PSNI Road Policing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800600" y="3362325"/>
            <a:ext cx="3886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Enforcement &amp; collision response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81000" y="3857625"/>
            <a:ext cx="85496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Metrics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81000" y="4276725"/>
            <a:ext cx="8549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high-risk locations, times, and conditions to enable data-driven resource allocation and targeted safety interventions.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1000" y="4762500"/>
            <a:ext cx="268724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Source: PSNI Road Traffic Collision Data 2017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 &amp; Quality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191071"/>
            <a:ext cx="4114800" cy="1466850"/>
          </a:xfrm>
          <a:prstGeom prst="roundRect">
            <a:avLst>
              <a:gd name="adj" fmla="val 415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3400" y="1343471"/>
            <a:ext cx="3886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Overview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33400" y="1705421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</a:t>
            </a: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PSNI Official Records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33400" y="1991171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Period:</a:t>
            </a: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January - December 2017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3400" y="2276921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Records:</a:t>
            </a: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6,000+ collisions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48200" y="1377851"/>
            <a:ext cx="4114800" cy="1093291"/>
          </a:xfrm>
          <a:prstGeom prst="roundRect">
            <a:avLst>
              <a:gd name="adj" fmla="val 5576"/>
            </a:avLst>
          </a:prstGeom>
          <a:solidFill>
            <a:srgbClr val="F77F00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00600" y="1530251"/>
            <a:ext cx="3886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00600" y="1892201"/>
            <a:ext cx="3886200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750"/>
              </a:spcBef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PSNI records with standardized coding for collisions, vehicles, and casualties.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1000" y="3390454"/>
            <a:ext cx="4114800" cy="1028700"/>
          </a:xfrm>
          <a:prstGeom prst="roundRect">
            <a:avLst>
              <a:gd name="adj" fmla="val 5926"/>
            </a:avLst>
          </a:prstGeom>
          <a:solidFill>
            <a:srgbClr val="1791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33400" y="3542854"/>
            <a:ext cx="3886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Components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33400" y="3885754"/>
            <a:ext cx="3886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Collision locations, times, severity levels, vehicle types, casualty demographics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648200" y="3407718"/>
            <a:ext cx="4114800" cy="994172"/>
          </a:xfrm>
          <a:prstGeom prst="roundRect">
            <a:avLst>
              <a:gd name="adj" fmla="val 6132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00600" y="3560118"/>
            <a:ext cx="3886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800600" y="3903018"/>
            <a:ext cx="3886200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data in some fields, single year (2017), excludes non-injury collisions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81000" y="4762500"/>
            <a:ext cx="43871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collision, vehicle, and casualty datasets with Irish Grid to WGS84 mapping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585844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Findings: Geographic Patterns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925538" y="2762250"/>
            <a:ext cx="209551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715000" y="1082129"/>
            <a:ext cx="3048000" cy="1123950"/>
          </a:xfrm>
          <a:prstGeom prst="roundRect">
            <a:avLst>
              <a:gd name="adj" fmla="val 5424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867400" y="1234529"/>
            <a:ext cx="279806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1,478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67400" y="1577429"/>
            <a:ext cx="2798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Belfast collisions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867400" y="1863179"/>
            <a:ext cx="279806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450"/>
              </a:spcBef>
              <a:buNone/>
            </a:pPr>
            <a:r>
              <a:rPr lang="en-US" sz="10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in Northern Ireland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715000" y="2358479"/>
            <a:ext cx="3048000" cy="1047750"/>
          </a:xfrm>
          <a:prstGeom prst="roundRect">
            <a:avLst>
              <a:gd name="adj" fmla="val 5818"/>
            </a:avLst>
          </a:prstGeom>
          <a:solidFill>
            <a:srgbClr val="1791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867400" y="2510879"/>
            <a:ext cx="2798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 by District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867400" y="2815679"/>
            <a:ext cx="279806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Belfast: 1,352 slight, 123 serious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867400" y="3063329"/>
            <a:ext cx="279806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Newry &amp; Mourne: 13 fatal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715000" y="3558629"/>
            <a:ext cx="3048000" cy="1150441"/>
          </a:xfrm>
          <a:prstGeom prst="roundRect">
            <a:avLst>
              <a:gd name="adj" fmla="val 5299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867400" y="3711029"/>
            <a:ext cx="2798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 Concentration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867400" y="3996779"/>
            <a:ext cx="2798064" cy="559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450"/>
              </a:spcBef>
              <a:buNone/>
            </a:pPr>
            <a:r>
              <a:rPr lang="en-US" sz="105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urban centers show highest collision density, particularly Belfast city center and arterial routes.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81000" y="4762500"/>
            <a:ext cx="37035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displays 6,000+ collision locations with severity-based color coding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3964" y="1035320"/>
            <a:ext cx="51435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C757D"/>
                </a:solidFill>
              </a:rPr>
              <a:t>GEOGRAPHIC HEATMAP
</a:t>
            </a:r>
            <a:r>
              <a:rPr lang="en-US" sz="1200" dirty="0">
                <a:solidFill>
                  <a:srgbClr val="495057"/>
                </a:solidFill>
              </a:rPr>
              <a:t>Belfast shows highest concentration with 1,478 collisions forming a dense cluster in the city center. Urban arterial routes display elevated collision frequencies. Rural areas show dispersed, lower-density patterns.</a:t>
            </a:r>
            <a:endParaRPr lang="en-US" sz="1800" dirty="0"/>
          </a:p>
        </p:txBody>
      </p:sp>
      <p:pic>
        <p:nvPicPr>
          <p:cNvPr id="18" name="Picture 17" descr="A map of a continent with many points&#10;&#10;AI-generated content may be incorrect.">
            <a:extLst>
              <a:ext uri="{FF2B5EF4-FFF2-40B4-BE49-F238E27FC236}">
                <a16:creationId xmlns:a16="http://schemas.microsoft.com/office/drawing/2014/main" id="{EABF3175-BE1F-F7D7-4874-A3DF287B28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150" y="1765840"/>
            <a:ext cx="3773127" cy="28223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664540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Findings: Temporal &amp; Demographic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043113" y="1800225"/>
            <a:ext cx="22829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6000" y="1095375"/>
            <a:ext cx="2667000" cy="495300"/>
          </a:xfrm>
          <a:prstGeom prst="roundRect">
            <a:avLst>
              <a:gd name="adj" fmla="val 12308"/>
            </a:avLst>
          </a:prstGeom>
          <a:solidFill>
            <a:srgbClr val="F77F00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0" y="1095375"/>
            <a:ext cx="27203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5pm Peak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096000" y="1400175"/>
            <a:ext cx="27203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Evening rush hour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096000" y="1666875"/>
            <a:ext cx="2667000" cy="495300"/>
          </a:xfrm>
          <a:prstGeom prst="roundRect">
            <a:avLst>
              <a:gd name="adj" fmla="val 12308"/>
            </a:avLst>
          </a:prstGeom>
          <a:solidFill>
            <a:srgbClr val="F77F00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0" y="1666875"/>
            <a:ext cx="27203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Friday High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096000" y="1971675"/>
            <a:ext cx="27203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collisions by day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096000" y="2238375"/>
            <a:ext cx="2667000" cy="495300"/>
          </a:xfrm>
          <a:prstGeom prst="roundRect">
            <a:avLst>
              <a:gd name="adj" fmla="val 12308"/>
            </a:avLst>
          </a:prstGeom>
          <a:solidFill>
            <a:srgbClr val="F77F00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096000" y="2238375"/>
            <a:ext cx="27203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096000" y="2543175"/>
            <a:ext cx="27203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monthly total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72753" y="3762375"/>
            <a:ext cx="26887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52950" y="3152775"/>
            <a:ext cx="4210050" cy="1447800"/>
          </a:xfrm>
          <a:prstGeom prst="roundRect">
            <a:avLst>
              <a:gd name="adj" fmla="val 5263"/>
            </a:avLst>
          </a:prstGeom>
          <a:solidFill>
            <a:srgbClr val="003D82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667250" y="3267075"/>
            <a:ext cx="40610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Insights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667250" y="3648075"/>
            <a:ext cx="40610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collisions involved cars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67250" y="3952875"/>
            <a:ext cx="40610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occurred on 30mph roads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67250" y="4257675"/>
            <a:ext cx="40610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25-34</a:t>
            </a: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age group highest casualties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1000" y="4762500"/>
            <a:ext cx="41799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patterns indicate predictable high-risk periods for targeted interventions</a:t>
            </a:r>
            <a:endParaRPr lang="en-US" sz="900" dirty="0"/>
          </a:p>
        </p:txBody>
      </p:sp>
      <p:pic>
        <p:nvPicPr>
          <p:cNvPr id="23" name="Picture 22" descr="A graph showing a line&#10;&#10;AI-generated content may be incorrect.">
            <a:extLst>
              <a:ext uri="{FF2B5EF4-FFF2-40B4-BE49-F238E27FC236}">
                <a16:creationId xmlns:a16="http://schemas.microsoft.com/office/drawing/2014/main" id="{761C2121-F70F-4440-B511-445716D032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863144"/>
            <a:ext cx="6096000" cy="1603831"/>
          </a:xfrm>
          <a:prstGeom prst="rect">
            <a:avLst/>
          </a:prstGeom>
        </p:spPr>
      </p:pic>
      <p:pic>
        <p:nvPicPr>
          <p:cNvPr id="25" name="Picture 24" descr="A blue and red pie chart&#10;&#10;AI-generated content may be incorrect.">
            <a:extLst>
              <a:ext uri="{FF2B5EF4-FFF2-40B4-BE49-F238E27FC236}">
                <a16:creationId xmlns:a16="http://schemas.microsoft.com/office/drawing/2014/main" id="{A3C48573-CA14-668A-833A-310E58D519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44" y="2800350"/>
            <a:ext cx="4540056" cy="181152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156692"/>
            <a:ext cx="476250" cy="476250"/>
          </a:xfrm>
          <a:prstGeom prst="roundRect">
            <a:avLst>
              <a:gd name="adj" fmla="val 16000"/>
            </a:avLst>
          </a:prstGeom>
          <a:solidFill>
            <a:srgbClr val="1791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76238" y="1156692"/>
            <a:ext cx="4857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9650" y="1156692"/>
            <a:ext cx="790841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Enhanced Rush Hour Enforcement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9650" y="1499592"/>
            <a:ext cx="7908417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additional PSNI traffic units during 4-6pm weekdays, particularly on Fridays in Belfast and major urban centers. Focus on accident-prone junctions identified in geographic analysis.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1000" y="2059484"/>
            <a:ext cx="476250" cy="476250"/>
          </a:xfrm>
          <a:prstGeom prst="roundRect">
            <a:avLst>
              <a:gd name="adj" fmla="val 16000"/>
            </a:avLst>
          </a:prstGeom>
          <a:solidFill>
            <a:srgbClr val="1791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76238" y="2059484"/>
            <a:ext cx="4857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9650" y="2059484"/>
            <a:ext cx="790841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30mph Zone Infrastructure Review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9650" y="2402384"/>
            <a:ext cx="7908417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 50% of collisions occur in 30mph zones, DfI NI should conduct infrastructure audits of high collision urban roads. Consider traffic calming measures, improved signage, and pedestrian crossing enhancements.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1000" y="2962275"/>
            <a:ext cx="476250" cy="476250"/>
          </a:xfrm>
          <a:prstGeom prst="roundRect">
            <a:avLst>
              <a:gd name="adj" fmla="val 16000"/>
            </a:avLst>
          </a:prstGeom>
          <a:solidFill>
            <a:srgbClr val="1791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76238" y="2962275"/>
            <a:ext cx="4857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9650" y="2962275"/>
            <a:ext cx="790841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Targeted Youth Driver Campaigns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09650" y="3305175"/>
            <a:ext cx="7908417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25-34 age group showing highest casualty rates, develop focused road safety campaigns for young drivers. Partner with employers and universities for workplace/campus awareness programs.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1000" y="3865066"/>
            <a:ext cx="476250" cy="476250"/>
          </a:xfrm>
          <a:prstGeom prst="roundRect">
            <a:avLst>
              <a:gd name="adj" fmla="val 16000"/>
            </a:avLst>
          </a:prstGeom>
          <a:solidFill>
            <a:srgbClr val="1791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76238" y="3865066"/>
            <a:ext cx="4857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09650" y="3865066"/>
            <a:ext cx="790841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 Safety Initiative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09650" y="4207966"/>
            <a:ext cx="7908417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annual September road safety awareness campaign targeting the back-to-school period. Increase enforcement presence and public messaging during this high-risk month.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1000" y="4762500"/>
            <a:ext cx="429683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&amp; Next Steps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238250"/>
            <a:ext cx="4095750" cy="6096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3400" y="1390650"/>
            <a:ext cx="386676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Limitations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81000" y="2000250"/>
            <a:ext cx="4095750" cy="1809750"/>
          </a:xfrm>
          <a:prstGeom prst="roundRect">
            <a:avLst>
              <a:gd name="adj" fmla="val 2388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2152650"/>
            <a:ext cx="38667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3400" y="2419350"/>
            <a:ext cx="386676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values in some fields may affect specific analyses. Weather and lighting records incomplete for subset of collisions.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33400" y="2952750"/>
            <a:ext cx="38667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Scope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3400" y="3219450"/>
            <a:ext cx="386676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year (2017) limits trend analysis and seasonal validation across multiple years.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33400" y="3752850"/>
            <a:ext cx="38667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3400" y="4019550"/>
            <a:ext cx="386676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buNone/>
            </a:pP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667250" y="1238250"/>
            <a:ext cx="4095750" cy="609600"/>
          </a:xfrm>
          <a:prstGeom prst="roundRect">
            <a:avLst>
              <a:gd name="adj" fmla="val 10000"/>
            </a:avLst>
          </a:prstGeom>
          <a:solidFill>
            <a:srgbClr val="1791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19650" y="1390650"/>
            <a:ext cx="386676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67250" y="2000250"/>
            <a:ext cx="4095750" cy="2552700"/>
          </a:xfrm>
          <a:prstGeom prst="roundRect">
            <a:avLst>
              <a:gd name="adj" fmla="val 2388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19650" y="2152650"/>
            <a:ext cx="38667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Multi-Year Analysis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19650" y="2419350"/>
            <a:ext cx="386676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2016-2020 data to identify long-term trends and validate 2017 patterns.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19650" y="2952750"/>
            <a:ext cx="38667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Modeling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19650" y="3219450"/>
            <a:ext cx="386676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machine learning models to predict high-risk locations and enable proactive deployment.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19650" y="3752850"/>
            <a:ext cx="38667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Dashboard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19650" y="4019550"/>
            <a:ext cx="386676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operational dashboard for PSNI with live data integration for dynamic decision-making.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81000" y="4762500"/>
            <a:ext cx="43941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9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48029" y="1280220"/>
            <a:ext cx="3847793" cy="754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940"/>
              </a:lnSpc>
              <a:buNone/>
            </a:pPr>
            <a:r>
              <a:rPr lang="en-US" sz="54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2894561" y="2644080"/>
            <a:ext cx="33545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for your attention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894561" y="3253680"/>
            <a:ext cx="33545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Barchart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2894561" y="3634680"/>
            <a:ext cx="33545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Dylan Thomas • James Troy • Darragh Counihan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2099" y="4724400"/>
            <a:ext cx="19279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Safer Streets NI - 2017 Analysis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92819" y="4724400"/>
            <a:ext cx="279760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available for interactive exploration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593</Words>
  <Application>Microsoft Office PowerPoint</Application>
  <PresentationFormat>On-screen Show (16:9)</PresentationFormat>
  <Paragraphs>91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Safer Streets NI Presentation</dc:title>
  <dc:subject>Safer Streets NI - Road Traffic Collision Analysis</dc:subject>
  <dc:creator>Team Barchart</dc:creator>
  <cp:lastModifiedBy>Dylan Thomas</cp:lastModifiedBy>
  <cp:revision>2</cp:revision>
  <dcterms:created xsi:type="dcterms:W3CDTF">2025-12-04T14:47:21Z</dcterms:created>
  <dcterms:modified xsi:type="dcterms:W3CDTF">2025-12-04T15:00:34Z</dcterms:modified>
</cp:coreProperties>
</file>